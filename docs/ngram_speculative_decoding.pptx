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1A2E"/>
                </a:solidFill>
                <a:latin typeface="Microsoft YaHei"/>
              </a:defRPr>
            </a:pPr>
            <a:r>
              <a:t>N-gram Speculative Decoding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926080"/>
            <a:ext cx="3931920" cy="381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26CE0"/>
                </a:solidFill>
                <a:latin typeface="Microsoft YaHei"/>
              </a:defRPr>
            </a:pPr>
            <a:r>
              <a:t>KMP  /  Hash  /  Trie (LookaheadCache)  /  Suffix Tree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技术实现原理  ·  关键设计  ·  对比分析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CA3AF"/>
                </a:solidFill>
                <a:latin typeface="Microsoft YaHei"/>
              </a:defRPr>
            </a:pPr>
            <a:r>
              <a:t>基于 vLLM ngram_proposer.py + arctic-inference suffix_tree.cc 代码实现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Speculative Decoding 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11247120" cy="109728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26CE0"/>
                </a:solidFill>
                <a:latin typeface="Microsoft YaHei"/>
              </a:defRPr>
            </a:pPr>
            <a:r>
              <a:t>核心思路: 用廉价方法 "猜" 接下来的 k 个 token, 再用目标模型一次性验证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验证通过直接接受, 未通过则从拒绝点重新生成. 将 k 步自回归压缩为 1 步并行验证.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468880" cy="109728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Context</a:t>
            </a:r>
            <a:br/>
            <a:r>
              <a:t>[t1, t2, ..., tn]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71800" y="2651760"/>
            <a:ext cx="411480" cy="320040"/>
          </a:xfrm>
          <a:prstGeom prst="rightArrow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9000" y="2286000"/>
            <a:ext cx="2468880" cy="109728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N-gram Proposer</a:t>
            </a:r>
            <a:br/>
            <a:r>
              <a:t>猜 k 个 draft tokens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3600" y="2651760"/>
            <a:ext cx="41148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2468880" cy="109728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Target Model</a:t>
            </a:r>
            <a:br/>
            <a:r>
              <a:t>一次前向验证 k tokens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915400" y="2651760"/>
            <a:ext cx="411480" cy="320040"/>
          </a:xfrm>
          <a:prstGeom prst="rightArrow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372600" y="2286000"/>
            <a:ext cx="2468880" cy="109728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Accept/Reject</a:t>
            </a:r>
            <a:br/>
            <a:r>
              <a:t>接受匹配, 拒绝后重新生成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11247120" cy="27432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10698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26CE0"/>
                </a:solidFill>
                <a:latin typeface="Microsoft YaHei"/>
              </a:defRPr>
            </a:pPr>
            <a:r>
              <a:t>N-gram 方案: 不需要额外模型, 仅从已有 token 序列中挖掘重复模式来预测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Speedup = 原始耗时 / 投机解码耗时  (越高越好)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Accept Rate = 被模型验证通过的 draft tokens / 总 draft tokens  (越高越好)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Mean Draft Length = 平均每步生成的 draft token 数  (并非越多越好, 质量 &gt; 数量)</a:t>
            </a:r>
          </a:p>
          <a:p>
            <a:pPr algn="l">
              <a:spcAft>
                <a:spcPts val="300"/>
              </a:spcAft>
              <a:defRPr sz="8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E88D14"/>
                </a:solidFill>
                <a:latin typeface="Microsoft YaHei"/>
              </a:defRPr>
            </a:pPr>
            <a:r>
              <a:t>四种 N-gram Proposer:</a:t>
            </a:r>
          </a:p>
          <a:p>
            <a:pPr algn="l">
              <a:spcAft>
                <a:spcPts val="300"/>
              </a:spcAft>
              <a:defRPr sz="1400" b="0">
                <a:solidFill>
                  <a:srgbClr val="333D4C"/>
                </a:solidFill>
                <a:latin typeface="Microsoft YaHei"/>
              </a:defRPr>
            </a:pPr>
            <a:r>
              <a:t>KMP (基线, 无状态)  -&gt;  Hash (频率统计)  -&gt;  Trie (树结构)  -&gt;  Suffix Tree (C++ 极致)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1. KMP 方案 — vLLM 原生基线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303520" cy="237744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226CE0"/>
                </a:solidFill>
                <a:latin typeface="Microsoft YaHei"/>
              </a:defRPr>
            </a:pPr>
            <a:r>
              <a:t>设计逻辑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不维护任何持久数据结构, 每次 propose 实时搜索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在当前序列中寻找与末尾匹配的最长 n-gram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取匹配位置之后的 k 个 token 作为 draft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Numba JIT 编译 + prange 批量并行加速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时间 O(n) | 空间 O(max_ngram) | 无预处理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237744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6012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88D14"/>
                </a:solidFill>
                <a:latin typeface="Microsoft YaHei"/>
              </a:defRPr>
            </a:pPr>
            <a:r>
              <a:t>关键技术: 反转序列 + LPS 数组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1. 将 token 序列反转 (suffix -&gt; prefix 问题转换)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2. 构建 LPS 数组 (长度限制为 max_ngram)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  lps[i] = max{v : tokens[0:v] == tokens[i+1-v:i+1]}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3. 扫描时追踪最长 prefix=suffix 匹配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4. 到达 max_ngram 时回退: prev_lps = lps[max_n-1]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  5. 匹配位置反转回原序列, 取后续 k token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26CE0"/>
                </a:solidFill>
                <a:latin typeface="Microsoft YaHei"/>
              </a:defRPr>
            </a:pPr>
            <a:r>
              <a:t>执行流程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4048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反转序列</a:t>
            </a:r>
            <a:br/>
            <a:r>
              <a:t>tokens[::-1]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4096512"/>
            <a:ext cx="274320" cy="320040"/>
          </a:xfrm>
          <a:prstGeom prst="rightArrow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384048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构建 LPS</a:t>
            </a:r>
            <a:br/>
            <a:r>
              <a:t>(max_ngram 长度)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18888" y="4096512"/>
            <a:ext cx="27432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384048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KMP 扫描</a:t>
            </a:r>
            <a:br/>
            <a:r>
              <a:t>追踪 longest_ngram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50608" y="4096512"/>
            <a:ext cx="274320" cy="320040"/>
          </a:xfrm>
          <a:prstGeom prst="right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384048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位置反转</a:t>
            </a:r>
            <a:br/>
            <a:r>
              <a:t>start=N-1-pos+len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82328" y="4096512"/>
            <a:ext cx="274320" cy="320040"/>
          </a:xfrm>
          <a:prstGeom prst="rightArrow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384048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提取 draft</a:t>
            </a:r>
            <a:br/>
            <a:r>
              <a:t>tokens[start:start+k]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029200"/>
            <a:ext cx="11247120" cy="14630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0749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226CE0"/>
                </a:solidFill>
                <a:latin typeface="Microsoft YaHei"/>
              </a:defRPr>
            </a:pPr>
            <a:r>
              <a:t>特点与局限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8C5B"/>
                </a:solidFill>
                <a:latin typeface="Microsoft YaHei"/>
              </a:defRPr>
            </a:pPr>
            <a:r>
              <a:t>+ 零存储开销, 无需预处理          + Numba JIT O(n)          + prange 批量并行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E03E3E"/>
                </a:solidFill>
                <a:latin typeface="Microsoft YaHei"/>
              </a:defRPr>
            </a:pPr>
            <a:r>
              <a:t>- 每次从头扫描全序列 (重复计算)    - 只返回单条贪心链 (无分支)    - 长序列下变慢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Benchmark:  Speedup 1.70x  |  Accept 50.6%  |  MeanLen 3.52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1. KMP — 核心算法代码 (Numba JIT)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046720" cy="530352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772400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92E"/>
                </a:solidFill>
                <a:latin typeface="Consolas"/>
              </a:defRPr>
            </a:pPr>
            <a:r>
              <a:t>@jit(nopython=True)</a:t>
            </a:r>
            <a:br/>
            <a:r>
              <a:t>def _find_longest_matched_ngram_and_propose_tokens(</a:t>
            </a:r>
            <a:br/>
            <a:r>
              <a:t>    origin_tokens, min_ngram, max_ngram, max_model_len, k):</a:t>
            </a:r>
            <a:br/>
            <a:br/>
            <a:r>
              <a:t>    tokens = origin_tokens[::-1]               # Step 1: 反转序列</a:t>
            </a:r>
            <a:br/>
            <a:r>
              <a:t>    lps = np.zeros(max_ngram, dtype=np.int32)  # Step 2: LPS 数组 (仅 max_ngram 长)</a:t>
            </a:r>
            <a:br/>
            <a:br/>
            <a:r>
              <a:t>    longest_ngram = 0</a:t>
            </a:r>
            <a:br/>
            <a:r>
              <a:t>    position = 0</a:t>
            </a:r>
            <a:br/>
            <a:r>
              <a:t>    prev_lps = 0</a:t>
            </a:r>
            <a:br/>
            <a:r>
              <a:t>    i = 1</a:t>
            </a:r>
            <a:br/>
            <a:r>
              <a:t>    while i &lt; total_token:                     # Step 3: KMP 线性扫描</a:t>
            </a:r>
            <a:br/>
            <a:r>
              <a:t>        if tokens[prev_lps] == tokens[i]:</a:t>
            </a:r>
            <a:br/>
            <a:r>
              <a:t>            prev_lps += 1</a:t>
            </a:r>
            <a:br/>
            <a:r>
              <a:t>            if prev_lps &gt;= longest_ngram:      #   更新最长匹配 (&gt;=: 选最早出现)</a:t>
            </a:r>
            <a:br/>
            <a:r>
              <a:t>                longest_ngram = prev_lps</a:t>
            </a:r>
            <a:br/>
            <a:r>
              <a:t>                position = i</a:t>
            </a:r>
            <a:br/>
            <a:r>
              <a:t>            if i &lt; max_ngram:</a:t>
            </a:r>
            <a:br/>
            <a:r>
              <a:t>                lps[i] = prev_lps              #   记录 LPS</a:t>
            </a:r>
            <a:br/>
            <a:r>
              <a:t>            if prev_lps == max_ngram:          #   到达上限, 回退避免越界</a:t>
            </a:r>
            <a:br/>
            <a:r>
              <a:t>                prev_lps = lps[max_ngram - 1]</a:t>
            </a:r>
            <a:br/>
            <a:r>
              <a:t>            i += 1</a:t>
            </a:r>
            <a:br/>
            <a:r>
              <a:t>        elif prev_lps != 0:</a:t>
            </a:r>
            <a:br/>
            <a:r>
              <a:t>            prev_lps = lps[prev_lps - 1]      #   KMP 失配回退</a:t>
            </a:r>
            <a:br/>
            <a:r>
              <a:t>        else:</a:t>
            </a:r>
            <a:br/>
            <a:r>
              <a:t>            i += 1</a:t>
            </a:r>
            <a:br/>
            <a:br/>
            <a:r>
              <a:t>    if longest_ngram &lt; min_ngram:</a:t>
            </a:r>
            <a:br/>
            <a:r>
              <a:t>        return np.empty((0,), dtype=origin_tokens.dtype)</a:t>
            </a:r>
            <a:br/>
            <a:br/>
            <a:r>
              <a:t>    # Step 4: 反转位置, 提取 draft tokens</a:t>
            </a:r>
            <a:br/>
            <a:r>
              <a:t>    start_position = total_token - 1 - position + longest_ngram</a:t>
            </a:r>
            <a:br/>
            <a:r>
              <a:t>    return origin_tokens[start_position : start_position + k]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78240" y="822960"/>
            <a:ext cx="3017520" cy="530352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0" y="914400"/>
            <a:ext cx="2651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26CE0"/>
                </a:solidFill>
                <a:latin typeface="Microsoft YaHei"/>
              </a:defRPr>
            </a:pPr>
            <a:r>
              <a:t>算法要点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反转的巧妙之处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将 "找末尾匹配的子串"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转化为 "找开头匹配的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前缀" — KMP 经典问题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LPS 截断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只分配 max_ngram 大小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达到上限时 fallback 到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lps[max_n-1], 避免越界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position 选择 (&gt;=)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倾向选最早出现的匹配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(反转后 = 最靠后位置,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原序列中 = 最靠前)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批量并行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@njit(parallel=True)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prange 多请求并发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2. Hash 频率表方案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486400" cy="256032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8C5B"/>
                </a:solidFill>
                <a:latin typeface="Microsoft YaHei"/>
              </a:defRPr>
            </a:pPr>
            <a:r>
              <a:t>数据结构 — 三层频率表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226CE0"/>
                </a:solidFill>
                <a:latin typeface="Microsoft YaHei"/>
              </a:defRPr>
            </a:pPr>
            <a:r>
              <a:t>FreqTable: dict[tuple, Counter]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 (t1,t2,...tn) -&gt; {next_token: count}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26CE0"/>
                </a:solidFill>
                <a:latin typeface="Microsoft YaHei"/>
              </a:defRPr>
            </a:pPr>
            <a:r>
              <a:t>HashTable: dict[int, int]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 hash(context) -&gt; best_token (快速路径)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226CE0"/>
                </a:solidFill>
                <a:latin typeface="Microsoft YaHei"/>
              </a:defRPr>
            </a:pPr>
            <a:r>
              <a:t>LocalFreq: dict[req_id, dict[tuple, Counter]]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 每请求独立, 权重 3.0x (近因效应)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A8C5B"/>
                </a:solidFill>
                <a:latin typeface="Microsoft YaHei"/>
              </a:defRPr>
            </a:pPr>
            <a:r>
              <a:t>合并: merged = global + local * 3.0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256032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6012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88D14"/>
                </a:solidFill>
                <a:latin typeface="Microsoft YaHei"/>
              </a:defRPr>
            </a:pPr>
            <a:r>
              <a:t>设计逻辑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1. 滑动窗口收集 n-gram 频率: n in [min_n, max_n]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2. 增量更新: 只处理包含新 token 的窗口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 start = max(0, total - n_new - n)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3. 查询: 从长 n-gram 到短, 取最高置信度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4. 三重过滤: 置信度 + 投票 + 自回归链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5. 每 100 次更新异步持久化到磁盘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8C5B"/>
                </a:solidFill>
                <a:latin typeface="Microsoft YaHei"/>
              </a:defRPr>
            </a:pPr>
            <a:r>
              <a:t>Propose 流程 (每步迭代 k 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2336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长 n-gram 优先</a:t>
            </a:r>
            <a:br/>
            <a:r>
              <a:t>try_n: max -&gt; min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87168" y="4279392"/>
            <a:ext cx="274320" cy="320040"/>
          </a:xfrm>
          <a:prstGeom prst="right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88920" y="402336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合并查询</a:t>
            </a:r>
            <a:br/>
            <a:r>
              <a:t>global + local * 3.0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18888" y="4279392"/>
            <a:ext cx="27432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402336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置信度检查</a:t>
            </a:r>
            <a:br/>
            <a:r>
              <a:t>top/total &gt;= 0.3?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150608" y="4279392"/>
            <a:ext cx="274320" cy="320040"/>
          </a:xfrm>
          <a:prstGeom prst="rightArrow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52360" y="402336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多 n-gram 投票</a:t>
            </a:r>
            <a:br/>
            <a:r>
              <a:t>多数窗口同意?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482328" y="4279392"/>
            <a:ext cx="274320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84080" y="402336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自回归扩展</a:t>
            </a:r>
            <a:br/>
            <a:r>
              <a:t>extended.append(tok)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11247120" cy="13716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A8C5B"/>
                </a:solidFill>
                <a:latin typeface="Microsoft YaHei"/>
              </a:defRPr>
            </a:pPr>
            <a:r>
              <a:t>三重质量控制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1) 置信度过滤: top_count/total &lt; 0.3 时停止 — 不确定就不猜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2) 多 n-gram 投票: [min_n..max_n] 各窗口半数以上同意才继续 — 交叉验证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3) 请求局部叠加: 当前请求 pattern 权重 3x, 新请求时重置 — 突出当前上下文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Benchmark:  Speedup 1.86x  |  Accept 43.3%  |  MeanLen 3.03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2. Hash — 核心 Propose + 投票代码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7315200" cy="38404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040880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92E"/>
                </a:solidFill>
                <a:latin typeface="Consolas"/>
              </a:defRPr>
            </a:pPr>
            <a:r>
              <a:t>def _propose_tokens_hash(self, input_ids, k, req_idx=0):</a:t>
            </a:r>
            <a:br/>
            <a:r>
              <a:t>    extended = list(input_ids)</a:t>
            </a:r>
            <a:br/>
            <a:r>
              <a:t>    for step in range(k):</a:t>
            </a:r>
            <a:br/>
            <a:r>
              <a:t>        best_token, best_confidence = None, 0.0</a:t>
            </a:r>
            <a:br/>
            <a:r>
              <a:t>        for try_n in range(n, self.min_n - 1, -1):   # 长 n-gram 优先</a:t>
            </a:r>
            <a:br/>
            <a:r>
              <a:t>            context = tuple(extended[-try_n:])</a:t>
            </a:r>
            <a:br/>
            <a:r>
              <a:t>            counter = self._get_merged_counter(context, req_idx)</a:t>
            </a:r>
            <a:br/>
            <a:r>
              <a:t>            #  ^ 关键: global_freq + local_freq * 3.0</a:t>
            </a:r>
            <a:br/>
            <a:r>
              <a:t>            if counter:</a:t>
            </a:r>
            <a:br/>
            <a:r>
              <a:t>                token, conf = self._check_confidence(counter)</a:t>
            </a:r>
            <a:br/>
            <a:r>
              <a:t>                #  ^ conf = top_count / total_count</a:t>
            </a:r>
            <a:br/>
            <a:r>
              <a:t>                if token and conf &gt; best_confidence:</a:t>
            </a:r>
            <a:br/>
            <a:r>
              <a:t>                    best_token, best_confidence = token, conf</a:t>
            </a:r>
            <a:br/>
            <a:r>
              <a:t>                    if conf &gt;= self._min_confidence:   # 0.3</a:t>
            </a:r>
            <a:br/>
            <a:r>
              <a:t>                        break</a:t>
            </a:r>
            <a:br/>
            <a:r>
              <a:t>        if best_token is None:           break</a:t>
            </a:r>
            <a:br/>
            <a:r>
              <a:t>        if best_confidence &lt; 0.3:        break  # 置信度不足</a:t>
            </a:r>
            <a:br/>
            <a:r>
              <a:t>        if not self._vote_ngrams(extended, best_token, req_idx):</a:t>
            </a:r>
            <a:br/>
            <a:r>
              <a:t>            break                                # 投票不通过</a:t>
            </a:r>
            <a:br/>
            <a:r>
              <a:t>        drafts.append(best_token)</a:t>
            </a:r>
            <a:br/>
            <a:r>
              <a:t>        extended.append(best_token)              # 自回归扩展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846320"/>
            <a:ext cx="7315200" cy="18288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919472"/>
            <a:ext cx="7040880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4292E"/>
                </a:solidFill>
                <a:latin typeface="Consolas"/>
              </a:defRPr>
            </a:pPr>
            <a:r>
              <a:t>def _vote_ngrams(self, input_ids, candidate, req_idx):</a:t>
            </a:r>
            <a:br/>
            <a:r>
              <a:t>    votes_for = votes_total = 0</a:t>
            </a:r>
            <a:br/>
            <a:r>
              <a:t>    for n in range(self.min_n, n_max + 1):</a:t>
            </a:r>
            <a:br/>
            <a:r>
              <a:t>        context = tuple(input_ids[-n:])</a:t>
            </a:r>
            <a:br/>
            <a:r>
              <a:t>        counter = self._get_merged_counter(context, req_idx)</a:t>
            </a:r>
            <a:br/>
            <a:r>
              <a:t>        if counter:</a:t>
            </a:r>
            <a:br/>
            <a:r>
              <a:t>            votes_total += 1</a:t>
            </a:r>
            <a:br/>
            <a:r>
              <a:t>            best, _ = self._check_confidence(counter)</a:t>
            </a:r>
            <a:br/>
            <a:r>
              <a:t>            if best == candidate:</a:t>
            </a:r>
            <a:br/>
            <a:r>
              <a:t>                votes_for += 1</a:t>
            </a:r>
            <a:br/>
            <a:r>
              <a:t>    return votes_for &gt;= (votes_total + 1) // 2  # 多数同意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822960"/>
            <a:ext cx="3749039" cy="274320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9144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A8C5B"/>
                </a:solidFill>
                <a:latin typeface="Microsoft YaHei"/>
              </a:defRPr>
            </a:pPr>
            <a:r>
              <a:t>频率合并策略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merged = Counter(global)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for tok, cnt in local: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  merged[tok] += cnt * 3.0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local 在新请求时清空重建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对当前对话的重复 pattern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给予更高权重 (近因偏好)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840480"/>
            <a:ext cx="3749039" cy="283464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931920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E88D14"/>
                </a:solidFill>
                <a:latin typeface="Microsoft YaHei"/>
              </a:defRPr>
            </a:pPr>
            <a:r>
              <a:t>增量更新机制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新请求: 全量构建 FreqTable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续写: 仅更新包含新 token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的滑动窗口, 并检查: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  if new_best != old_best: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    hash_table[h] = new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每 100 次更新异步 flush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到磁盘 (pickle 序列化)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3. Trie 方案 — LookaheadCache 复现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657600" cy="2926080"/>
          </a:xfrm>
          <a:prstGeom prst="roundRect">
            <a:avLst/>
          </a:prstGeom>
          <a:solidFill>
            <a:srgbClr val="EDE5F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三层数据结构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26CE0"/>
                </a:solidFill>
                <a:latin typeface="Microsoft YaHei"/>
              </a:defRPr>
            </a:pPr>
            <a:r>
              <a:t>TrieCache (顶层)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mem: root_key -&gt; TrieTree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root_key = 1-token 或 n-tuple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26CE0"/>
                </a:solidFill>
                <a:latin typeface="Microsoft YaHei"/>
              </a:defRPr>
            </a:pPr>
            <a:r>
              <a:t>TrieTree (每个根一棵)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nodes: token_id -&gt; TrieNode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max 65536 节点, 超限剪枝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226CE0"/>
                </a:solidFill>
                <a:latin typeface="Microsoft YaHei"/>
              </a:defRPr>
            </a:pPr>
            <a:r>
              <a:t>TrieNode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freqs: {idx: float}  频率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children: {token: TrieNode}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914400"/>
            <a:ext cx="3657600" cy="292608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960120"/>
            <a:ext cx="3291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1A8C5B"/>
                </a:solidFill>
                <a:latin typeface="Microsoft YaHei"/>
              </a:defRPr>
            </a:pPr>
            <a:r>
              <a:t>频率双通道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D4C"/>
                </a:solidFill>
                <a:latin typeface="Microsoft YaHei"/>
              </a:defRPr>
            </a:pPr>
            <a:r>
              <a:t>freqs[idx] = 输入频率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来自 prompt (input mode)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每个 request 独立 idx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请求结束后重置为 0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D4C"/>
                </a:solidFill>
                <a:latin typeface="Microsoft YaHei"/>
              </a:defRPr>
            </a:pPr>
            <a:r>
              <a:t>freqs[-1] = 输出频率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来自生成 (output mode)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跨请求共享, 持久积累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A8C5B"/>
                </a:solidFill>
                <a:latin typeface="Microsoft YaHei"/>
              </a:defRPr>
            </a:pPr>
            <a:r>
              <a:t>mix 模式混合: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fm = (1-w)*fi + w*fo  (w=0.5)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914400"/>
            <a:ext cx="3383280" cy="292608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6012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E88D14"/>
                </a:solidFill>
                <a:latin typeface="Microsoft YaHei"/>
              </a:defRPr>
            </a:pPr>
            <a:r>
              <a:t>Root Key 设计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node_size=1 (默认)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root = single token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碰撞多, 树大而浅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A8C5B"/>
                </a:solidFill>
                <a:latin typeface="Microsoft YaHei"/>
              </a:defRPr>
            </a:pPr>
            <a:r>
              <a:t>node_size=3 (最优)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root = (t1, t2, t3)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精确定位, 内部仍单 token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本质 ≡ suffix min_match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_make_key 始终返回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  (single_token,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023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写入: 滑动窗口 + 链式分支插入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3434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滑动窗口</a:t>
            </a:r>
            <a:br/>
            <a:r>
              <a:t>i: 0 -&gt; len-ns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44368" y="4599432"/>
            <a:ext cx="274320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43434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提取 root_key</a:t>
            </a:r>
            <a:br/>
            <a:r>
              <a:t>+ branch tokens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70448" y="4599432"/>
            <a:ext cx="27432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3434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链式插入 _put</a:t>
            </a:r>
            <a:br/>
            <a:r>
              <a:t>沿路径递增频率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96528" y="4599432"/>
            <a:ext cx="274320" cy="320040"/>
          </a:xfrm>
          <a:prstGeom prst="right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35440" y="43434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流式增量</a:t>
            </a:r>
            <a:br/>
            <a:r>
              <a:t>stream_put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Microsoft YaHei"/>
              </a:defRPr>
            </a:pPr>
            <a:r>
              <a:t>查询: hier_get -&gt; get -&gt; 提取最优分支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7150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滑窗找匹配</a:t>
            </a:r>
            <a:br/>
            <a:r>
              <a:t>root_key -&gt; TrieTree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944368" y="5971032"/>
            <a:ext cx="274320" cy="320040"/>
          </a:xfrm>
          <a:prstGeom prst="right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83280" y="57150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_match 精确匹配</a:t>
            </a:r>
            <a:br/>
            <a:r>
              <a:t>沿 Trie 下行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870448" y="5971032"/>
            <a:ext cx="27432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57150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_ravel DFS</a:t>
            </a:r>
            <a:br/>
            <a:r>
              <a:t>频率降序展开子树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796528" y="5971032"/>
            <a:ext cx="274320" cy="320040"/>
          </a:xfrm>
          <a:prstGeom prst="right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35440" y="5715000"/>
            <a:ext cx="24688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提取贪心路径</a:t>
            </a:r>
            <a:br/>
            <a:r>
              <a:t>mask[j,cur]==1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3. Trie — 写入 + 匹配核心代码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7315200" cy="33832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040880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# TrieCache.put — 滑动窗口插入</a:t>
            </a:r>
            <a:br/>
            <a:r>
              <a:t>def put(self, token_ids, branch_length=8, mode='output', idx=0):</a:t>
            </a:r>
            <a:br/>
            <a:r>
              <a:t>    ns = self.node_size  # e.g. 3</a:t>
            </a:r>
            <a:br/>
            <a:r>
              <a:t>    for i in range(len(token_ids) - ns + 1):</a:t>
            </a:r>
            <a:br/>
            <a:r>
              <a:t>        root_key = token_ids[i] if ns == 1 \</a:t>
            </a:r>
            <a:br/>
            <a:r>
              <a:t>            else tuple(token_ids[i:i + ns])</a:t>
            </a:r>
            <a:br/>
            <a:r>
              <a:t>        tup = token_ids[i + ns : i + ns + branch_length]</a:t>
            </a:r>
            <a:br/>
            <a:r>
              <a:t>        tid = root_key if ns == 1 else root_key[-1]</a:t>
            </a:r>
            <a:br/>
            <a:r>
              <a:t>        self._put_to_tree(root_key, tup, mode, idx, tid)</a:t>
            </a:r>
            <a:br/>
            <a:br/>
            <a:r>
              <a:t># TrieTree._put — 沿路径插入, 已有节点递增频率</a:t>
            </a:r>
            <a:br/>
            <a:r>
              <a:t>def _put(self, token_ids, nodes, mode='output', freq=1.0, idx=-1):</a:t>
            </a:r>
            <a:br/>
            <a:r>
              <a:t>    pos = 0</a:t>
            </a:r>
            <a:br/>
            <a:r>
              <a:t>    while pos &lt; len(token_ids):</a:t>
            </a:r>
            <a:br/>
            <a:r>
              <a:t>        key, width = self._make_key(token_ids, pos)  # always (token, 1)</a:t>
            </a:r>
            <a:br/>
            <a:r>
              <a:t>        node = nodes.get(key, None)</a:t>
            </a:r>
            <a:br/>
            <a:r>
              <a:t>        if node is None:</a:t>
            </a:r>
            <a:br/>
            <a:r>
              <a:t>            nodes.update(self._pack(token_ids, pos, idx, freq=freq))</a:t>
            </a:r>
            <a:br/>
            <a:r>
              <a:t>            break                       # 一次性构建剩余链</a:t>
            </a:r>
            <a:br/>
            <a:r>
              <a:t>        node.freqs[idx] = node.freqs.get(idx, 0.0) + freq  # 递增频率</a:t>
            </a:r>
            <a:br/>
            <a:r>
              <a:t>        nodes = node.children</a:t>
            </a:r>
            <a:br/>
            <a:r>
              <a:t>        pos += width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7315200" cy="23774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62272"/>
            <a:ext cx="704088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# TrieTree._match — 精确路径匹配</a:t>
            </a:r>
            <a:br/>
            <a:r>
              <a:t>def _match(self, token_ids, mode='mix', idx=0, skip_gram=False):</a:t>
            </a:r>
            <a:br/>
            <a:r>
              <a:t>    nodes = self.nodes</a:t>
            </a:r>
            <a:br/>
            <a:r>
              <a:t>    token_id = None</a:t>
            </a:r>
            <a:br/>
            <a:r>
              <a:t>    pos = 0</a:t>
            </a:r>
            <a:br/>
            <a:r>
              <a:t>    while pos &lt; len(token_ids):</a:t>
            </a:r>
            <a:br/>
            <a:r>
              <a:t>        key, width = self._make_key(token_ids, pos)</a:t>
            </a:r>
            <a:br/>
            <a:r>
              <a:t>        node = nodes.get(key, None)</a:t>
            </a:r>
            <a:br/>
            <a:r>
              <a:t>        if node is None and skip_gram:          # skip-gram 回退</a:t>
            </a:r>
            <a:br/>
            <a:r>
              <a:t>            node = nodes.get(_SKIPGRAM_SENTINEL, None)</a:t>
            </a:r>
            <a:br/>
            <a:r>
              <a:t>        if node is None:</a:t>
            </a:r>
            <a:br/>
            <a:r>
              <a:t>            break                               # 匹配终止</a:t>
            </a:r>
            <a:br/>
            <a:r>
              <a:t>        token_id = token_ids[pos + width - 1]</a:t>
            </a:r>
            <a:br/>
            <a:r>
              <a:t>        # 频率检查: 该路径是否有有效频率</a:t>
            </a:r>
            <a:br/>
            <a:r>
              <a:t>        if mode == 'mix':</a:t>
            </a:r>
            <a:br/>
            <a:r>
              <a:t>            if node.freqs.get(idx, 0) &gt; 0 or node.freqs.get(-1, 0) &gt; 0:</a:t>
            </a:r>
            <a:br/>
            <a:r>
              <a:t>                nodes = node.children           # 有效, 继续下行</a:t>
            </a:r>
            <a:br/>
            <a:r>
              <a:t>            else:</a:t>
            </a:r>
            <a:br/>
            <a:r>
              <a:t>                nodes = {}</a:t>
            </a:r>
            <a:br/>
            <a:r>
              <a:t>        pos += width</a:t>
            </a:r>
            <a:br/>
            <a:r>
              <a:t>    return token_id, nodes  # (最后匹配 token, 子节点集合)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822960"/>
            <a:ext cx="3749039" cy="2926080"/>
          </a:xfrm>
          <a:prstGeom prst="roundRect">
            <a:avLst/>
          </a:prstGeom>
          <a:solidFill>
            <a:srgbClr val="EDE5F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9144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7C3AED"/>
                </a:solidFill>
                <a:latin typeface="Microsoft YaHei"/>
              </a:defRPr>
            </a:pPr>
            <a:r>
              <a:t>写入路径要点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_pack: 一次性构建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新节点从尾到头倒序链接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避免多次 dict 插入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已有路径: 仅递增频率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node.freqs[idx] += freq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不创建新节点, O(depth)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stream_put 流式增量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缓冲生成 token, 攒够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branch_length 再插入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4023360"/>
            <a:ext cx="3749039" cy="274320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11480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A8C5B"/>
                </a:solidFill>
                <a:latin typeface="Microsoft YaHei"/>
              </a:defRPr>
            </a:pPr>
            <a:r>
              <a:t>匹配路径要点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精确逐 token 下行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每步检查频率有效性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无效则中断 (nodes={})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返回 (token, children)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children 用于后续 DFS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展开候选 draft tokens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skip_gram 回退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精确匹配失败时尝试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sentinel(-999) 子节点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3. Trie — DFS 展开 + 最优路径提取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7315200" cy="36576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7040880" cy="3511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# TrieTree._ravel — 多分支 DFS 按频率降序展开</a:t>
            </a:r>
            <a:br/>
            <a:r>
              <a:t>def _ravel(self, nodes, ids, mask, pid, max_size=64, max_length=8,</a:t>
            </a:r>
            <a:br/>
            <a:r>
              <a:t>           output_weight=0.5, mode='mix', idx=0, ...):</a:t>
            </a:r>
            <a:br/>
            <a:r>
              <a:t>    if len(ids) &gt;= max_size or max_length &lt;= 0:</a:t>
            </a:r>
            <a:br/>
            <a:r>
              <a:t>        return</a:t>
            </a:r>
            <a:br/>
            <a:r>
              <a:t>    # 子节点按混合频率降序排列</a:t>
            </a:r>
            <a:br/>
            <a:r>
              <a:t>    sorts = sorted([</a:t>
            </a:r>
            <a:br/>
            <a:r>
              <a:t>        (k, v, (1-output_weight)*v.freqs.get(idx, 0)</a:t>
            </a:r>
            <a:br/>
            <a:r>
              <a:t>               + output_weight*v.freqs.get(-1, 0))</a:t>
            </a:r>
            <a:br/>
            <a:r>
              <a:t>        for k, v in nodes.items()</a:t>
            </a:r>
            <a:br/>
            <a:r>
              <a:t>    ], key=lambda x: x[2], reverse=True)</a:t>
            </a:r>
            <a:br/>
            <a:br/>
            <a:r>
              <a:t>    for tid, node, fm in sorts:</a:t>
            </a:r>
            <a:br/>
            <a:r>
              <a:t>        if len(ids) &gt;= max_size: return</a:t>
            </a:r>
            <a:br/>
            <a:r>
              <a:t>        fi, fo = node.freqs.get(idx, 0), node.freqs.get(-1, 0)</a:t>
            </a:r>
            <a:br/>
            <a:r>
              <a:t>        if fi &lt; min_input_freq and fo &lt; min_output_freq and fm &lt; min_mix_freq:</a:t>
            </a:r>
            <a:br/>
            <a:r>
              <a:t>            continue                    # 频率不够, 裁剪</a:t>
            </a:r>
            <a:br/>
            <a:r>
              <a:t>        ids.append(tid)</a:t>
            </a:r>
            <a:br/>
            <a:r>
              <a:t>        rid = len(ids) - 1</a:t>
            </a:r>
            <a:br/>
            <a:r>
              <a:t>        if pid &gt; -1: mask[rid] = mask[pid]  # 继承祖先关系</a:t>
            </a:r>
            <a:br/>
            <a:r>
              <a:t>        mask[rid, rid] = 1</a:t>
            </a:r>
            <a:br/>
            <a:r>
              <a:t>        if node.children:</a:t>
            </a:r>
            <a:br/>
            <a:r>
              <a:t>            self._ravel(node.children, ids, mask, rid, ...)  # 递归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663440"/>
            <a:ext cx="7315200" cy="210312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736592"/>
            <a:ext cx="704088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# TrieCache.get — 从多分支中提取贪心最优路径</a:t>
            </a:r>
            <a:br/>
            <a:r>
              <a:t>def get(self, token_ids, ...):</a:t>
            </a:r>
            <a:br/>
            <a:r>
              <a:t>    decoding_ids, decoding_masks, sizes = self.hier_get(token_ids, ...)</a:t>
            </a:r>
            <a:br/>
            <a:r>
              <a:t>    # ids[0] 是 root (context), 不算 draft</a:t>
            </a:r>
            <a:br/>
            <a:r>
              <a:t>    # _ravel 按频率降序 DFS -&gt; 第一条连续链就是最优路径</a:t>
            </a:r>
            <a:br/>
            <a:r>
              <a:t>    branch = []</a:t>
            </a:r>
            <a:br/>
            <a:r>
              <a:t>    current = 0</a:t>
            </a:r>
            <a:br/>
            <a:r>
              <a:t>    for j in range(1, len(decoding_ids)):</a:t>
            </a:r>
            <a:br/>
            <a:r>
              <a:t>        if decoding_masks[j, current] == 1:  # j 是 current 的后代</a:t>
            </a:r>
            <a:br/>
            <a:r>
              <a:t>            branch.append(decoding_ids[j])</a:t>
            </a:r>
            <a:br/>
            <a:r>
              <a:t>            current = j</a:t>
            </a:r>
            <a:br/>
            <a:r>
              <a:t>        else:</a:t>
            </a:r>
            <a:br/>
            <a:r>
              <a:t>            break   # 分支切换 = 不连续, 停止</a:t>
            </a:r>
            <a:br/>
            <a:r>
              <a:t>    return branch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822960"/>
            <a:ext cx="3749039" cy="5943600"/>
          </a:xfrm>
          <a:prstGeom prst="roundRect">
            <a:avLst/>
          </a:prstGeom>
          <a:solidFill>
            <a:srgbClr val="EDE5F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914400"/>
            <a:ext cx="3383280" cy="576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DFS 展开结构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多分支 Trie: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8C5B"/>
                </a:solidFill>
                <a:latin typeface="Microsoft YaHei"/>
              </a:defRPr>
            </a:pPr>
            <a:r>
              <a:t>  t4[15] -&gt; t5[8] -&gt; t6[3]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E88D14"/>
                </a:solidFill>
                <a:latin typeface="Microsoft YaHei"/>
              </a:defRPr>
            </a:pPr>
            <a:r>
              <a:t>           -&gt; t7[5] -&gt; t8[2]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t9[4]  -&gt; t10[2]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DFS 输出: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226CE0"/>
                </a:solidFill>
                <a:latin typeface="Microsoft YaHei"/>
              </a:defRPr>
            </a:pPr>
            <a:r>
              <a:t>ids=[root,t4,t5,t6,t7,t8,t9,t10]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mask 记录祖先关系: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mask[j] = mask[parent]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mask[j,j] = 1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600" b="1">
                <a:solidFill>
                  <a:srgbClr val="1A8C5B"/>
                </a:solidFill>
                <a:latin typeface="Microsoft YaHei"/>
              </a:defRPr>
            </a:pPr>
            <a:r>
              <a:t>最优路径提取: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因为是频率降序 DFS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第一条连续链即最优: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1A8C5B"/>
                </a:solidFill>
                <a:latin typeface="Microsoft YaHei"/>
              </a:defRPr>
            </a:pPr>
            <a:r>
              <a:t>  [t4, t5, t6]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mask[j, current]==1 检查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j 是否在 current 的子树中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不连续立即 break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Benchmark: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Speedup 1.95x | Accept 55.7%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MeanLen 3.67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4. Suffix Tree 方案 — C++ arctic-inference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3840480" cy="30175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E03E3E"/>
                </a:solidFill>
                <a:latin typeface="Microsoft YaHei"/>
              </a:defRPr>
            </a:pPr>
            <a:r>
              <a:t>数据结构: 压缩后缀树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struct Node {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int64 count;     // 经过的后缀数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int token;       // 首 token ID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int length;      // 路径压缩长度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int ref_seq;     // 引用序列 ID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int ref_idx;     // 引用起始位置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Map children;    // 子节点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Node* head_child; // count 最大子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333D4C"/>
                </a:solidFill>
                <a:latin typeface="Microsoft YaHei"/>
              </a:defRPr>
            </a:pPr>
            <a:r>
              <a:t>  Node* siblings;  // 兄弟双向链表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914400"/>
            <a:ext cx="3657600" cy="301752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960120"/>
            <a:ext cx="3291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E88D14"/>
                </a:solidFill>
                <a:latin typeface="Microsoft YaHei"/>
              </a:defRPr>
            </a:pPr>
            <a:r>
              <a:t>核心设计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D4C"/>
                </a:solidFill>
                <a:latin typeface="Microsoft YaHei"/>
              </a:defRPr>
            </a:pPr>
            <a:r>
              <a:t>1. 零冗余存储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 tokens 只存一份在 _seqs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 节点通过 (ref_seq, ref_idx)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引用原始数据, 不复制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D4C"/>
                </a:solidFill>
                <a:latin typeface="Microsoft YaHei"/>
              </a:defRPr>
            </a:pPr>
            <a:r>
              <a:t>2. 增量构建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 append(seq_id, token)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 active_nodes 维护活跃后缀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每 token O(depth) 更新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1">
                <a:solidFill>
                  <a:srgbClr val="333D4C"/>
                </a:solidFill>
                <a:latin typeface="Microsoft YaHei"/>
              </a:defRPr>
            </a:pPr>
            <a:r>
              <a:t>3. 概率估计 (内建)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   prob = child.count/parent.count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 无需额外 FreqTable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914400"/>
            <a:ext cx="3383280" cy="301752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9601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226CE0"/>
                </a:solidFill>
                <a:latin typeface="Microsoft YaHei"/>
              </a:defRPr>
            </a:pPr>
            <a:r>
              <a:t>两种推测模式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1A8C5B"/>
                </a:solidFill>
                <a:latin typeface="Microsoft YaHei"/>
              </a:defRPr>
            </a:pPr>
            <a:r>
              <a:t>Path 模式 (贪心)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始终选 head_child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(count 最大子节点)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O(1) 取最优, 单链输出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7C3AED"/>
                </a:solidFill>
                <a:latin typeface="Microsoft YaHei"/>
              </a:defRPr>
            </a:pPr>
            <a:r>
              <a:t>Tree 模式 (多分支)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优先队列 max-heap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按累积概率展开多分支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  prob &lt; min_token_prob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  时剪枝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vLLM 默认 Path 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3E3E"/>
                </a:solidFill>
                <a:latin typeface="Microsoft YaHei"/>
              </a:defRPr>
            </a:pPr>
            <a:r>
              <a:t>请求生命周期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3484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start_request</a:t>
            </a:r>
            <a:br/>
            <a:r>
              <a:t>extend(prompt)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87168" y="4690872"/>
            <a:ext cx="274320" cy="320040"/>
          </a:xfrm>
          <a:prstGeom prst="rightArrow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443484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每步生成</a:t>
            </a:r>
            <a:br/>
            <a:r>
              <a:t>append(token)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4690872"/>
            <a:ext cx="274320" cy="320040"/>
          </a:xfrm>
          <a:prstGeom prst="rightArrow">
            <a:avLst/>
          </a:prstGeom>
          <a:solidFill>
            <a:srgbClr val="E88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443484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match_context</a:t>
            </a:r>
            <a:br/>
            <a:r>
              <a:t>匹配末尾 context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0608" y="4690872"/>
            <a:ext cx="274320" cy="320040"/>
          </a:xfrm>
          <a:prstGeom prst="right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443484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speculate_path</a:t>
            </a:r>
            <a:br/>
            <a:r>
              <a:t>head_child 贪心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482328" y="4690872"/>
            <a:ext cx="274320" cy="320040"/>
          </a:xfrm>
          <a:prstGeom prst="rightArrow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4434840"/>
            <a:ext cx="2011680" cy="868680"/>
          </a:xfrm>
          <a:prstGeom prst="roundRect">
            <a:avLst/>
          </a:prstGeom>
          <a:solidFill>
            <a:srgbClr val="F0F4F8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333D4C"/>
                </a:solidFill>
                <a:latin typeface="Microsoft YaHei"/>
              </a:defRPr>
            </a:pPr>
            <a:r>
              <a:t>stop_request</a:t>
            </a:r>
            <a:br/>
            <a:r>
              <a:t>remove + prune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577840"/>
            <a:ext cx="11247120" cy="100584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0">
                <a:solidFill>
                  <a:srgbClr val="1A8C5B"/>
                </a:solidFill>
                <a:latin typeface="Microsoft YaHei"/>
              </a:defRPr>
            </a:pPr>
            <a:r>
              <a:t>+ C++ 零 Python 开销   + 路径压缩 O(n) 空间   + 兄弟链 O(1) 最优子节点   + 概率天然内建</a:t>
            </a:r>
          </a:p>
          <a:p>
            <a:pPr algn="l">
              <a:spcAft>
                <a:spcPts val="300"/>
              </a:spcAft>
              <a:defRPr sz="1300" b="1">
                <a:solidFill>
                  <a:srgbClr val="E88D14"/>
                </a:solidFill>
                <a:latin typeface="Microsoft YaHei"/>
              </a:defRPr>
            </a:pPr>
            <a:r>
              <a:t>Benchmark:  Speedup 2.04x  |  Accept 54.2%  |  MeanLen 2.50  (所有 N-gram 方案最优)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4. Suffix Tree — match_context + speculate_path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6858000" cy="33832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896112"/>
            <a:ext cx="6583680" cy="323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// suffix_tree.cc — _match_context: 在后缀树中匹配上下文</a:t>
            </a:r>
            <a:br/>
            <a:r>
              <a:t>pair&lt;Node*, int&gt; _match_context(span&lt;int&gt; context) {</a:t>
            </a:r>
            <a:br/>
            <a:r>
              <a:t>    Node* node = root;</a:t>
            </a:r>
            <a:br/>
            <a:r>
              <a:t>    int idx = 0;              // 当前节点内的偏移</a:t>
            </a:r>
            <a:br/>
            <a:r>
              <a:t>    for (int token : context) {</a:t>
            </a:r>
            <a:br/>
            <a:r>
              <a:t>        if (idx &gt;= node-&gt;length) {</a:t>
            </a:r>
            <a:br/>
            <a:r>
              <a:t>            // 当前节点走完, 查找子节点</a:t>
            </a:r>
            <a:br/>
            <a:r>
              <a:t>            auto it = node-&gt;children.find(token);</a:t>
            </a:r>
            <a:br/>
            <a:r>
              <a:t>            if (it == node-&gt;children.end())</a:t>
            </a:r>
            <a:br/>
            <a:r>
              <a:t>                return {nullptr, -1};   // 无匹配</a:t>
            </a:r>
            <a:br/>
            <a:r>
              <a:t>            node = it-&gt;second;</a:t>
            </a:r>
            <a:br/>
            <a:r>
              <a:t>            idx = 0;                   // 进入子节点第 0 个位置</a:t>
            </a:r>
            <a:br/>
            <a:r>
              <a:t>        }</a:t>
            </a:r>
            <a:br/>
            <a:r>
              <a:t>        // 检查节点内 token 是否匹配</a:t>
            </a:r>
            <a:br/>
            <a:r>
              <a:t>        if (_seqs[node-&gt;ref_seq][node-&gt;ref_idx + idx] != token)</a:t>
            </a:r>
            <a:br/>
            <a:r>
              <a:t>            return {nullptr, -1};</a:t>
            </a:r>
            <a:br/>
            <a:r>
              <a:t>        idx++;</a:t>
            </a:r>
            <a:br/>
            <a:r>
              <a:t>    }</a:t>
            </a:r>
            <a:br/>
            <a:r>
              <a:t>    return {node, idx};  // 返回匹配节点 + 偏移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389120"/>
            <a:ext cx="6858000" cy="23774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462272"/>
            <a:ext cx="6583680" cy="2231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4292E"/>
                </a:solidFill>
                <a:latin typeface="Consolas"/>
              </a:defRPr>
            </a:pPr>
            <a:r>
              <a:t>// suffix_tree.cc — speculate: 枚举 match_len 取最优</a:t>
            </a:r>
            <a:br/>
            <a:r>
              <a:t>Draft speculate(span&lt;int&gt; context, int max_spec, ...) {</a:t>
            </a:r>
            <a:br/>
            <a:r>
              <a:t>    Draft best;</a:t>
            </a:r>
            <a:br/>
            <a:r>
              <a:t>    for (int ml = 1; ml &lt; context.size(); ml++) {</a:t>
            </a:r>
            <a:br/>
            <a:r>
              <a:t>        auto [node, idx] = _match_context(context.last(ml));</a:t>
            </a:r>
            <a:br/>
            <a:r>
              <a:t>        if (!node) break;</a:t>
            </a:r>
            <a:br/>
            <a:r>
              <a:t>        int max_tok = min(max_spec, int(ml * factor));</a:t>
            </a:r>
            <a:br/>
            <a:r>
              <a:t>        Draft d = _speculate_path(node, idx, max_tok);</a:t>
            </a:r>
            <a:br/>
            <a:r>
              <a:t>        if (d.score &gt;= best.score) best = d;  // &gt;= 偏好更长</a:t>
            </a:r>
            <a:br/>
            <a:r>
              <a:t>    }</a:t>
            </a:r>
            <a:br/>
            <a:r>
              <a:t>    return best;</a:t>
            </a:r>
            <a:br/>
            <a:r>
              <a:t>}</a:t>
            </a:r>
            <a:br/>
            <a:r>
              <a:t>// _speculate_path: 贪心跟随 head_child</a:t>
            </a:r>
            <a:br/>
            <a:r>
              <a:t>Draft _speculate_path(Node* node, int idx, int max_tokens) {</a:t>
            </a:r>
            <a:br/>
            <a:r>
              <a:t>    float prob = 1.0f;  // float32 精度</a:t>
            </a:r>
            <a:br/>
            <a:r>
              <a:t>    while (draft.size() &lt; max_tokens &amp;&amp; prob &gt;= min_prob) {</a:t>
            </a:r>
            <a:br/>
            <a:r>
              <a:t>        if (idx &lt; node-&gt;length) {</a:t>
            </a:r>
            <a:br/>
            <a:r>
              <a:t>            draft.push(ref_token[idx], prob); idx++;</a:t>
            </a:r>
            <a:br/>
            <a:r>
              <a:t>        } else {</a:t>
            </a:r>
            <a:br/>
            <a:r>
              <a:t>            Node* child = node-&gt;head_child;  // O(1) 取最优</a:t>
            </a:r>
            <a:br/>
            <a:r>
              <a:t>            if (!child) break;</a:t>
            </a:r>
            <a:br/>
            <a:r>
              <a:t>            prob *= (float)child-&gt;count / node-&gt;count;</a:t>
            </a:r>
            <a:br/>
            <a:r>
              <a:t>            node = child; idx = 0;</a:t>
            </a:r>
            <a:br/>
            <a:r>
              <a:t>        }</a:t>
            </a:r>
            <a:br/>
            <a:r>
              <a:t>    }</a:t>
            </a:r>
            <a:br/>
            <a:r>
              <a:t>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822960"/>
            <a:ext cx="4114800" cy="301752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914400"/>
            <a:ext cx="3749039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E03E3E"/>
                </a:solidFill>
                <a:latin typeface="Microsoft YaHei"/>
              </a:defRPr>
            </a:pPr>
            <a:r>
              <a:t>match_context 要点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路径压缩匹配: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一个节点内存多个 token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通过 ref_seq[ref_idx+offset]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直接访问, 无需逐节点跳转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失配即停: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节点内 mismatch 直接返回 null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子节点不存在也返回 null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精确匹配, 不做模糊回退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89520" y="4114800"/>
            <a:ext cx="4114800" cy="265176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206240"/>
            <a:ext cx="3749039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1A8C5B"/>
                </a:solidFill>
                <a:latin typeface="Microsoft YaHei"/>
              </a:defRPr>
            </a:pPr>
            <a:r>
              <a:t>speculate 要点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枚举所有 match_len: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for ml = 1 to len(ctx)-1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取 score 最高的 (≥ 偏好长)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head_child = O(1):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兄弟链按 count 降序排列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333D4C"/>
                </a:solidFill>
                <a:latin typeface="Microsoft YaHei"/>
              </a:defRPr>
            </a:pPr>
            <a:r>
              <a:t>等 count 时后提升者在前</a:t>
            </a:r>
          </a:p>
          <a:p>
            <a:pPr algn="l">
              <a:spcAft>
                <a:spcPts val="300"/>
              </a:spcAft>
              <a:defRPr sz="6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1">
                <a:solidFill>
                  <a:srgbClr val="333D4C"/>
                </a:solidFill>
                <a:latin typeface="Microsoft YaHei"/>
              </a:defRPr>
            </a:pPr>
            <a:r>
              <a:t>累积概率衰减: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prob *= child.count/parent.count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float32 精度, &lt; 阈值即停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方案对比总结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" y="822960"/>
          <a:ext cx="116128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03120"/>
                <a:gridCol w="2560320"/>
                <a:gridCol w="274320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26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KMP</a:t>
                      </a:r>
                    </a:p>
                  </a:txBody>
                  <a:tcPr>
                    <a:solidFill>
                      <a:srgbClr val="226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Hash</a:t>
                      </a:r>
                    </a:p>
                  </a:txBody>
                  <a:tcPr>
                    <a:solidFill>
                      <a:srgbClr val="226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Trie (LookaheadCache)</a:t>
                      </a:r>
                    </a:p>
                  </a:txBody>
                  <a:tcPr>
                    <a:solidFill>
                      <a:srgbClr val="226CE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Suffix Tree (C++)</a:t>
                      </a:r>
                    </a:p>
                  </a:txBody>
                  <a:tcPr>
                    <a:solidFill>
                      <a:srgbClr val="226CE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数据结构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无 (每次重算)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dict[tuple, Counter]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+ 请求局部表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三层 Trie 树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TrieCache/Tree/Node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压缩后缀树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路径压缩+兄弟链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存储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O(1) 临时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O(|patterns|)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O(nodes) max 65536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O(n) 路径压缩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模式收集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无 (实时搜索)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滑窗 [min_n,max_n]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增量更新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滑窗 + 分支插入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stream_put 增量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全后缀索引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append 增量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Propose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反转+LPS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取后续 k token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长-&gt;短 n-gram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置信度+投票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滑窗找 root_key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DFS+贪心路径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match_context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head_child 贪心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质量控制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置信度 0.3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多 n-gram 投票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频率排序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输入/输出混合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prob 概率估计</a:t>
                      </a:r>
                    </a:p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min_token_prob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实现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Numba JIT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C++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1.70x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1.86x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1.95x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2.04x (最优)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Accept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50.6%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43.3%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55.7%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54.2%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Avg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3.52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3.03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3.67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D4C"/>
                          </a:solidFill>
                          <a:latin typeface="Microsoft YaHei"/>
                        </a:defRPr>
                      </a:pPr>
                      <a:r>
                        <a:t>2.50 (最少)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关键技术洞察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5486400" cy="146304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960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1A8C5B"/>
                </a:solidFill>
                <a:latin typeface="Microsoft YaHei"/>
              </a:defRPr>
            </a:pPr>
            <a:r>
              <a:t>"猜得准" &gt; "猜得多"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Suffix: 最少 draft (2.50) 但最高 speedup (2.04x)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Trie: 最多 draft (3.67) 但 speedup 反而更低 (1.95x)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1A8C5B"/>
                </a:solidFill>
                <a:latin typeface="Microsoft YaHei"/>
              </a:defRPr>
            </a:pPr>
            <a:r>
              <a:t>错误 draft 浪费验证计算, 精准少量优于盲目多猜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914400"/>
            <a:ext cx="5486400" cy="146304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9601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03E3E"/>
                </a:solidFill>
                <a:latin typeface="Microsoft YaHei"/>
              </a:defRPr>
            </a:pPr>
            <a:r>
              <a:t>所有模糊匹配均失败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Fuzzy (43%) / SkipGram (31%) / EditDist (28%)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放松条件 -&gt; 频率分散 -&gt; 预测质量下降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E03E3E"/>
                </a:solidFill>
                <a:latin typeface="Microsoft YaHei"/>
              </a:defRPr>
            </a:pPr>
            <a:r>
              <a:t>N-gram 是 context-free 的, 模糊化引入噪声而非信号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5486400" cy="146304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226CE0"/>
                </a:solidFill>
                <a:latin typeface="Microsoft YaHei"/>
              </a:defRPr>
            </a:pPr>
            <a:r>
              <a:t>实现语言决定性能天花板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Trie accept (55.7%) &gt; Suffix (54.2%) — 算法质量更高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但 speedup Suffix (2.04x) &gt; Trie (1.95x) — C++ 胜出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226CE0"/>
                </a:solidFill>
                <a:latin typeface="Microsoft YaHei"/>
              </a:defRPr>
            </a:pPr>
            <a:r>
              <a:t>Python dict/DFS 开销 vs C++ 原生 O(1) 兄弟链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51760"/>
            <a:ext cx="5486400" cy="1463040"/>
          </a:xfrm>
          <a:prstGeom prst="roundRect">
            <a:avLst/>
          </a:prstGeom>
          <a:solidFill>
            <a:srgbClr val="FEF3DB"/>
          </a:solidFill>
          <a:ln w="15240">
            <a:solidFill>
              <a:srgbClr val="E88D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700" b="1">
                <a:solidFill>
                  <a:srgbClr val="E88D14"/>
                </a:solidFill>
                <a:latin typeface="Microsoft YaHei"/>
              </a:defRPr>
            </a:pPr>
            <a:r>
              <a:t>3-gram root 本质 = min_match_len</a:t>
            </a:r>
          </a:p>
          <a:p>
            <a:pPr algn="l">
              <a:spcAft>
                <a:spcPts val="300"/>
              </a:spcAft>
              <a:defRPr sz="3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Trie node_size=3: 需 3 token 匹配才进入查询</a:t>
            </a:r>
          </a:p>
          <a:p>
            <a:pPr algn="l">
              <a:spcAft>
                <a:spcPts val="300"/>
              </a:spcAft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Suffix min_match_len=3: 匹配长度 &gt;= 3 才返回</a:t>
            </a:r>
          </a:p>
          <a:p>
            <a:pPr algn="l">
              <a:spcAft>
                <a:spcPts val="300"/>
              </a:spcAft>
              <a:defRPr sz="1200" b="0">
                <a:solidFill>
                  <a:srgbClr val="E88D14"/>
                </a:solidFill>
                <a:latin typeface="Microsoft YaHei"/>
              </a:defRPr>
            </a:pPr>
            <a:r>
              <a:t>本质相同: 最低上下文长度保证预测质量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11247120" cy="2194560"/>
          </a:xfrm>
          <a:prstGeom prst="roundRect">
            <a:avLst/>
          </a:prstGeom>
          <a:solidFill>
            <a:srgbClr val="F0F4F8"/>
          </a:solidFill>
          <a:ln w="2540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000" b="1">
                <a:solidFill>
                  <a:srgbClr val="226CE0"/>
                </a:solidFill>
                <a:latin typeface="Microsoft YaHei"/>
              </a:defRPr>
            </a:pPr>
            <a:r>
              <a:t>核心结论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0">
                <a:solidFill>
                  <a:srgbClr val="333D4C"/>
                </a:solidFill>
                <a:latin typeface="Microsoft YaHei"/>
              </a:defRPr>
            </a:pPr>
            <a:r>
              <a:t>技术路线: KMP (baseline) -&gt; Hash (统计过滤) -&gt; Trie (树结构+频率) -&gt; Suffix (C++ 极致)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500" b="1">
                <a:solidFill>
                  <a:srgbClr val="E03E3E"/>
                </a:solidFill>
                <a:latin typeface="Microsoft YaHei"/>
              </a:defRPr>
            </a:pPr>
            <a:r>
              <a:t>C++ Suffix Tree 2.04x 是纯 N-gram 统计方案的实际上限</a:t>
            </a:r>
          </a:p>
          <a:p>
            <a:pPr algn="l">
              <a:spcAft>
                <a:spcPts val="300"/>
              </a:spcAft>
              <a:defRPr sz="400" b="0">
                <a:solidFill>
                  <a:srgbClr val="333D4C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400" b="0">
                <a:solidFill>
                  <a:srgbClr val="333D4C"/>
                </a:solidFill>
                <a:latin typeface="Microsoft YaHei"/>
              </a:defRPr>
            </a:pPr>
            <a:r>
              <a:t>进一步突破 (如 2.5x+) 需要从 "统计匹配" 升级到 "模型级 draft" (如小模型蒸馏/Medusa)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548640" cy="50800"/>
          </a:xfrm>
          <a:prstGeom prst="rect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技术演进路线图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14400"/>
            <a:ext cx="2286000" cy="100584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D4C"/>
                </a:solidFill>
                <a:latin typeface="Microsoft YaHei"/>
              </a:defRPr>
            </a:pPr>
            <a:r>
              <a:t>Level 1: 无状态匹配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914400"/>
            <a:ext cx="1645920" cy="1005840"/>
          </a:xfrm>
          <a:prstGeom prst="roundRect">
            <a:avLst/>
          </a:prstGeom>
          <a:solidFill>
            <a:srgbClr val="226CE0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KMP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914400"/>
            <a:ext cx="6766560" cy="1005840"/>
          </a:xfrm>
          <a:prstGeom prst="roundRect">
            <a:avLst/>
          </a:prstGeom>
          <a:solidFill>
            <a:srgbClr val="DBE8FD"/>
          </a:solidFill>
          <a:ln w="15240">
            <a:solidFill>
              <a:srgbClr val="226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0058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每次从头扫描全序列, 无持久化, 无统计</a:t>
            </a:r>
            <a:br/>
            <a:r>
              <a:t>Speedup: 1.70x</a:t>
            </a:r>
          </a:p>
        </p:txBody>
      </p:sp>
      <p:sp>
        <p:nvSpPr>
          <p:cNvPr id="8" name="Down Arrow 7"/>
          <p:cNvSpPr/>
          <p:nvPr/>
        </p:nvSpPr>
        <p:spPr>
          <a:xfrm>
            <a:off x="2194560" y="1920240"/>
            <a:ext cx="274320" cy="274320"/>
          </a:xfrm>
          <a:prstGeom prst="downArrow">
            <a:avLst/>
          </a:prstGeom>
          <a:solidFill>
            <a:srgbClr val="226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286000" cy="100584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D4C"/>
                </a:solidFill>
                <a:latin typeface="Microsoft YaHei"/>
              </a:defRPr>
            </a:pPr>
            <a:r>
              <a:t>Level 2: 统计过滤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286000"/>
            <a:ext cx="1645920" cy="1005840"/>
          </a:xfrm>
          <a:prstGeom prst="roundRect">
            <a:avLst/>
          </a:prstGeom>
          <a:solidFill>
            <a:srgbClr val="1A8C5B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Hash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286000"/>
            <a:ext cx="6766560" cy="1005840"/>
          </a:xfrm>
          <a:prstGeom prst="roundRect">
            <a:avLst/>
          </a:prstGeom>
          <a:solidFill>
            <a:srgbClr val="DEF5E9"/>
          </a:solidFill>
          <a:ln w="15240">
            <a:solidFill>
              <a:srgbClr val="1A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3774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频率表 + 置信度 + 多 n-gram 投票 + 请求局部叠加</a:t>
            </a:r>
            <a:br/>
            <a:r>
              <a:t>Speedup: 1.86x  (+9%)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194560" y="3291840"/>
            <a:ext cx="274320" cy="274320"/>
          </a:xfrm>
          <a:prstGeom prst="downArrow">
            <a:avLst/>
          </a:prstGeom>
          <a:solidFill>
            <a:srgbClr val="1A8C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3657600"/>
            <a:ext cx="2286000" cy="1005840"/>
          </a:xfrm>
          <a:prstGeom prst="roundRect">
            <a:avLst/>
          </a:prstGeom>
          <a:solidFill>
            <a:srgbClr val="EDE5F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D4C"/>
                </a:solidFill>
                <a:latin typeface="Microsoft YaHei"/>
              </a:defRPr>
            </a:pPr>
            <a:r>
              <a:t>Level 3: 树结构索引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3657600"/>
            <a:ext cx="1645920" cy="1005840"/>
          </a:xfrm>
          <a:prstGeom prst="roundRect">
            <a:avLst/>
          </a:prstGeom>
          <a:solidFill>
            <a:srgbClr val="7C3AE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Trie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657600"/>
            <a:ext cx="6766560" cy="1005840"/>
          </a:xfrm>
          <a:prstGeom prst="roundRect">
            <a:avLst/>
          </a:prstGeom>
          <a:solidFill>
            <a:srgbClr val="EDE5FD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37490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三层 Trie + 输入/输出频率混合 + DFS 多分支展开</a:t>
            </a:r>
            <a:br/>
            <a:r>
              <a:t>Speedup: 1.95x  (+5%)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2194560" y="4663440"/>
            <a:ext cx="274320" cy="274320"/>
          </a:xfrm>
          <a:prstGeom prst="downArrow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2286000" cy="100584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33D4C"/>
                </a:solidFill>
                <a:latin typeface="Microsoft YaHei"/>
              </a:defRPr>
            </a:pPr>
            <a:r>
              <a:t>Level 4: C++ 极致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5029200"/>
            <a:ext cx="1645920" cy="1005840"/>
          </a:xfrm>
          <a:prstGeom prst="roundRect">
            <a:avLst/>
          </a:prstGeom>
          <a:solidFill>
            <a:srgbClr val="E03E3E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Suffix Tree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5029200"/>
            <a:ext cx="6766560" cy="1005840"/>
          </a:xfrm>
          <a:prstGeom prst="roundRect">
            <a:avLst/>
          </a:prstGeom>
          <a:solidFill>
            <a:srgbClr val="FDE8E8"/>
          </a:solidFill>
          <a:ln w="1524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512064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D4C"/>
                </a:solidFill>
                <a:latin typeface="Microsoft YaHei"/>
              </a:defRPr>
            </a:pPr>
            <a:r>
              <a:t>压缩后缀树 + 路径压缩 + 兄弟链 O(1) 最优 + 内建概率</a:t>
            </a:r>
            <a:br/>
            <a:r>
              <a:t>Speedup: 2.04x  (+5%)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